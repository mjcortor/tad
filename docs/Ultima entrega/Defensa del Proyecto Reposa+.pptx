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DM Sans"/>
      <p:regular r:id="rId20"/>
      <p:bold r:id="rId21"/>
      <p:italic r:id="rId22"/>
      <p:boldItalic r:id="rId23"/>
    </p:embeddedFont>
    <p:embeddedFont>
      <p:font typeface="Merriweath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CF08B94-4F2E-4DBA-97D3-52D4F93ED8CA}">
  <a:tblStyle styleId="{BCF08B94-4F2E-4DBA-97D3-52D4F93ED8C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regular.fntdata"/><Relationship Id="rId22" Type="http://schemas.openxmlformats.org/officeDocument/2006/relationships/font" Target="fonts/DMSans-italic.fntdata"/><Relationship Id="rId21" Type="http://schemas.openxmlformats.org/officeDocument/2006/relationships/font" Target="fonts/DMSans-bold.fntdata"/><Relationship Id="rId24" Type="http://schemas.openxmlformats.org/officeDocument/2006/relationships/font" Target="fonts/Merriweather-regular.fntdata"/><Relationship Id="rId23" Type="http://schemas.openxmlformats.org/officeDocument/2006/relationships/font" Target="fonts/DM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erriweather-italic.fntdata"/><Relationship Id="rId25" Type="http://schemas.openxmlformats.org/officeDocument/2006/relationships/font" Target="fonts/Merriweather-bold.fntdata"/><Relationship Id="rId27" Type="http://schemas.openxmlformats.org/officeDocument/2006/relationships/font" Target="fonts/Merriweath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9" Type="http://schemas.openxmlformats.org/officeDocument/2006/relationships/image" Target="../media/image4.png"/><Relationship Id="rId5" Type="http://schemas.openxmlformats.org/officeDocument/2006/relationships/image" Target="../media/image14.png"/><Relationship Id="rId6" Type="http://schemas.openxmlformats.org/officeDocument/2006/relationships/image" Target="../media/image20.png"/><Relationship Id="rId7" Type="http://schemas.openxmlformats.org/officeDocument/2006/relationships/image" Target="../media/image5.png"/><Relationship Id="rId8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25.png"/><Relationship Id="rId7" Type="http://schemas.openxmlformats.org/officeDocument/2006/relationships/image" Target="../media/image24.png"/><Relationship Id="rId8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5" Type="http://schemas.openxmlformats.org/officeDocument/2006/relationships/image" Target="../media/image30.png"/><Relationship Id="rId6" Type="http://schemas.openxmlformats.org/officeDocument/2006/relationships/image" Target="../media/image17.png"/><Relationship Id="rId7" Type="http://schemas.openxmlformats.org/officeDocument/2006/relationships/image" Target="../media/image16.png"/><Relationship Id="rId8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33.png"/><Relationship Id="rId6" Type="http://schemas.openxmlformats.org/officeDocument/2006/relationships/image" Target="../media/image13.png"/><Relationship Id="rId7" Type="http://schemas.openxmlformats.org/officeDocument/2006/relationships/image" Target="../media/image23.png"/><Relationship Id="rId8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9" Type="http://schemas.openxmlformats.org/officeDocument/2006/relationships/image" Target="../media/image28.png"/><Relationship Id="rId5" Type="http://schemas.openxmlformats.org/officeDocument/2006/relationships/image" Target="../media/image14.png"/><Relationship Id="rId6" Type="http://schemas.openxmlformats.org/officeDocument/2006/relationships/image" Target="../media/image20.png"/><Relationship Id="rId7" Type="http://schemas.openxmlformats.org/officeDocument/2006/relationships/image" Target="../media/image31.png"/><Relationship Id="rId8" Type="http://schemas.openxmlformats.org/officeDocument/2006/relationships/image" Target="../media/image3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3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35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162300" y="3098006"/>
            <a:ext cx="58674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25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E-commerce Avanzado de Descanso y Bienestar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162300" y="4131468"/>
            <a:ext cx="5867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Ingeniería Informática - Sistemas de Información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Tecnologías Avanzadas de Desarrollo | Convocatoria 2026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015614" y="2174081"/>
            <a:ext cx="616077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Proyecto Reposa+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1285875" y="3076575"/>
            <a:ext cx="46196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1. Introducción y Objetivos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285875" y="3490912"/>
            <a:ext cx="46196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2. Estado del Arte y Valor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285875" y="3905250"/>
            <a:ext cx="46196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3. Stack Tecnológico (Docker/Laravel)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285875" y="4319587"/>
            <a:ext cx="46196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4. Metodología Agile y Git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000875" y="3076575"/>
            <a:ext cx="46196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5. Modelo de Datos e Integridad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000875" y="3490912"/>
            <a:ext cx="46196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6. UX/UI y Diseño de Interfaces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000875" y="3905250"/>
            <a:ext cx="46196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7. Implementación y Pruebas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000875" y="4319587"/>
            <a:ext cx="46196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8. Conclusiones y Demo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1194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5337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9481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43624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0" y="31194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0" y="35337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0" y="39481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0" y="436245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Ruta de la Presentación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28812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71500" y="2452687"/>
            <a:ext cx="533400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El mercado de productos de descanso sufre de interfaces complejas y procesos de compra poco intuitivos que generan fatiga cognitiva.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3448050"/>
            <a:ext cx="5334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Reposa+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nace para simplificar la experiencia, ofreciendo un entorno de alto rendimiento y catálogo dinámico.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928812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El Problema y Contexto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571500" y="1928812"/>
            <a:ext cx="5600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Necesidad del Usuario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21768"/>
            <a:ext cx="5334000" cy="22240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721768"/>
            <a:ext cx="5334000" cy="2224087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857250" y="3483768"/>
            <a:ext cx="481012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Desarrollar una aplicación e-commerce integral bajo arquitectura de contenedores que garantice escalabilidad y mantenibilidad.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905625" y="3455193"/>
            <a:ext cx="44767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Despliegue orquestado con Docker.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905625" y="3869531"/>
            <a:ext cx="44767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Gestión de catálogo y roles (RBAC).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905625" y="4283868"/>
            <a:ext cx="44767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Persistencia robusta y atómica.</a:t>
            </a:r>
            <a:endParaRPr/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72250" y="3498056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72250" y="391239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72250" y="4326731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Objetivos del Proyecto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857250" y="2959893"/>
            <a:ext cx="505063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General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572250" y="2959893"/>
            <a:ext cx="505063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Específicos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2681"/>
            <a:ext cx="3555950" cy="2862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402681"/>
            <a:ext cx="3555950" cy="2862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402681"/>
            <a:ext cx="3555950" cy="286226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857250" y="3945731"/>
            <a:ext cx="29844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Uso de cacheo y optimización de assets frente a soluciones pesadas tradicionales.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4603700" y="3945731"/>
            <a:ext cx="29844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Middlewares personalizados para control de acceso y sanitización de datos.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350150" y="3945731"/>
            <a:ext cx="29844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Cumplimiento de estándares WCAG y principios de diseño inclusivo.</a:t>
            </a:r>
            <a:endParaRPr/>
          </a:p>
        </p:txBody>
      </p:sp>
      <p:pic>
        <p:nvPicPr>
          <p:cNvPr descr="image.png" id="152" name="Google Shape;15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58900" y="273605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351" y="273605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04176" y="2736056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Estado del Arte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1449288" y="3326606"/>
            <a:ext cx="18002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Rendimiento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5390763" y="3326606"/>
            <a:ext cx="141017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Seguridad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8927187" y="3326606"/>
            <a:ext cx="183022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Accesibilidad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571500" y="3012281"/>
            <a:ext cx="4953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Back-end: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Laravel (PHP 8.2) para una lógica de negocio robusta.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571500" y="3917156"/>
            <a:ext cx="49530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Front-end: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Bootstrap y Blade para interfaces reactivas.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571500" y="4550568"/>
            <a:ext cx="4953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Infraestructura: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Docker Compose (Apache, MySQL, phpMyAdmin).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762000" y="571500"/>
            <a:ext cx="50006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Stack Tecnológico</a:t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571500" y="2393156"/>
            <a:ext cx="5200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Arquitectura de Sistemas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71625"/>
            <a:ext cx="7048500" cy="452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0500" y="1571625"/>
            <a:ext cx="3810000" cy="452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14860" y="1857375"/>
            <a:ext cx="376177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857250" y="5048250"/>
            <a:ext cx="6477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Gestión de tareas visual mediante tablero para optimizar el WIP y detectar cuellos de botella.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8096250" y="3114675"/>
            <a:ext cx="323850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Ramas: main (estable), develop (integración) y feature/* para despliegue atómico.</a:t>
            </a:r>
            <a:endParaRPr/>
          </a:p>
        </p:txBody>
      </p:sp>
      <p:pic>
        <p:nvPicPr>
          <p:cNvPr descr="image.png" id="182" name="Google Shape;18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14860" y="1857375"/>
            <a:ext cx="376177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48812" y="190500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Metodología Agile y Git</a:t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3165633" y="4429125"/>
            <a:ext cx="186023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Flujo Kanban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8795385" y="2495550"/>
            <a:ext cx="184023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Git Workflow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1625" y="2166937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71625" y="2166937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6619875" y="3455193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Claves foráneas para integridad referencial.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6619875" y="3869531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Transacciones en el flujo de pedidos (Rollback).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6619875" y="4283868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Índices optimizados en tablas de búsqueda.</a:t>
            </a:r>
            <a:endParaRPr/>
          </a:p>
        </p:txBody>
      </p:sp>
      <p:pic>
        <p:nvPicPr>
          <p:cNvPr descr="image.png" id="198" name="Google Shape;19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49805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391239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0" y="4326731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Base de Datos e Integridad</a:t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6286500" y="2959893"/>
            <a:ext cx="5600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Relacional y Atómica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28812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928812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904875" y="2424112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Gestalt: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Proximidad y semejanza en tarjetas.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904875" y="2838450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Mobile-First: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Diseño adaptativo (Grid 12-col).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904875" y="3252787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Nielsen: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Visibilidad del estado y prevención de errores.</a:t>
            </a:r>
            <a:endParaRPr/>
          </a:p>
        </p:txBody>
      </p:sp>
      <p:pic>
        <p:nvPicPr>
          <p:cNvPr descr="image.png" id="214" name="Google Shape;21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46697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881312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295650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Diseño de Interfaces (UI)</a:t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571500" y="1928812"/>
            <a:ext cx="5600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Principios Aplicados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2681"/>
            <a:ext cx="3555950" cy="2862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402681"/>
            <a:ext cx="3555950" cy="2862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402681"/>
            <a:ext cx="3555950" cy="2862262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857250" y="3945731"/>
            <a:ext cx="29844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Separación clara entre modelos de Eloquent y controladores de API/Web.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4603700" y="3945731"/>
            <a:ext cx="29844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Integración de SMTP para confirmación de pedidos y eventos de usuario.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8350150" y="3945731"/>
            <a:ext cx="29844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Hasheo de contraseñas y validación de formularios en el servidor (Request classes).</a:t>
            </a:r>
            <a:endParaRPr/>
          </a:p>
        </p:txBody>
      </p:sp>
      <p:pic>
        <p:nvPicPr>
          <p:cNvPr descr="image.png" id="231" name="Google Shape;23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35088" y="2736056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351" y="273605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5614" y="2736056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2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Implementación y Código</a:t>
            </a:r>
            <a:endParaRPr/>
          </a:p>
        </p:txBody>
      </p:sp>
      <p:sp>
        <p:nvSpPr>
          <p:cNvPr id="235" name="Google Shape;235;p22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1509295" y="3326606"/>
            <a:ext cx="16802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Patrón MVC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5095726" y="3326606"/>
            <a:ext cx="2000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Notificaciones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9137213" y="3326606"/>
            <a:ext cx="141017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Seguridad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571500" y="3114675"/>
            <a:ext cx="533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100%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571500" y="4257675"/>
            <a:ext cx="53340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Casos Críticos Superados</a:t>
            </a: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6286500" y="2826543"/>
            <a:ext cx="5334000" cy="2014537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7" name="Google Shape;247;p23"/>
          <p:cNvGraphicFramePr/>
          <p:nvPr/>
        </p:nvGraphicFramePr>
        <p:xfrm>
          <a:off x="6286500" y="28265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{BCF08B94-4F2E-4DBA-97D3-52D4F93ED8CA}</a:tableStyleId>
              </a:tblPr>
              <a:tblGrid>
                <a:gridCol w="4033250"/>
                <a:gridCol w="1300750"/>
              </a:tblGrid>
              <a:tr h="503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Escenario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Resultado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503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Login con credenciales válidas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Pass</a:t>
                      </a:r>
                      <a:endParaRPr/>
                    </a:p>
                  </a:txBody>
                  <a:tcPr marT="25400" marB="25400" marR="63500" marL="295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3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Generación de pedido atómico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Pass</a:t>
                      </a:r>
                      <a:endParaRPr/>
                    </a:p>
                  </a:txBody>
                  <a:tcPr marT="25400" marB="25400" marR="63500" marL="295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3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Control de acceso 403 (No Admin)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Pass</a:t>
                      </a:r>
                      <a:endParaRPr/>
                    </a:p>
                  </a:txBody>
                  <a:tcPr marT="25400" marB="25400" marR="63500" marL="295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8" name="Google Shape;248;p23"/>
          <p:cNvSpPr/>
          <p:nvPr/>
        </p:nvSpPr>
        <p:spPr>
          <a:xfrm>
            <a:off x="6286500" y="3807618"/>
            <a:ext cx="40332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10319742" y="3807618"/>
            <a:ext cx="13007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6286500" y="4317206"/>
            <a:ext cx="40332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10319742" y="4317206"/>
            <a:ext cx="13007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6286500" y="4826793"/>
            <a:ext cx="40332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10319742" y="4826793"/>
            <a:ext cx="13007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4" name="Google Shape;25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62617" y="3974306"/>
            <a:ext cx="1809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62617" y="3464718"/>
            <a:ext cx="1809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62617" y="4483893"/>
            <a:ext cx="1809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62617" y="3464718"/>
            <a:ext cx="1809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62617" y="3974306"/>
            <a:ext cx="1809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62617" y="4483893"/>
            <a:ext cx="1809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Pruebas de Aceptación</a:t>
            </a:r>
            <a:endParaRPr/>
          </a:p>
        </p:txBody>
      </p:sp>
      <p:sp>
        <p:nvSpPr>
          <p:cNvPr id="261" name="Google Shape;261;p23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4"/>
          <p:cNvSpPr txBox="1"/>
          <p:nvPr/>
        </p:nvSpPr>
        <p:spPr>
          <a:xfrm>
            <a:off x="4843462" y="3202781"/>
            <a:ext cx="25050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Gracias por su atención.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4843462" y="3950493"/>
            <a:ext cx="25050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5088"/>
                </a:solidFill>
                <a:latin typeface="Arial"/>
                <a:ea typeface="Arial"/>
                <a:cs typeface="Arial"/>
                <a:sym typeface="Arial"/>
              </a:rPr>
              <a:t> github.com/tu-repositorio/reposa-plus</a:t>
            </a:r>
            <a:endParaRPr/>
          </a:p>
        </p:txBody>
      </p:sp>
      <p:pic>
        <p:nvPicPr>
          <p:cNvPr descr="image.png" id="269" name="Google Shape;26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3462" y="3950493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4"/>
          <p:cNvSpPr txBox="1"/>
          <p:nvPr/>
        </p:nvSpPr>
        <p:spPr>
          <a:xfrm>
            <a:off x="4780835" y="2726531"/>
            <a:ext cx="263032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¿Alguna pregunta?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5" name="Google Shape;27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5"/>
          <p:cNvSpPr/>
          <p:nvPr/>
        </p:nvSpPr>
        <p:spPr>
          <a:xfrm>
            <a:off x="571500" y="182403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571500" y="259556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571500" y="336708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571500" y="413861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571500" y="25860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571500" y="25860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571500" y="33575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571500" y="33575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571500" y="41290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571500" y="41290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571500" y="49006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571500" y="49006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8" name="Google Shape;28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669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5"/>
          <p:cNvSpPr txBox="1"/>
          <p:nvPr/>
        </p:nvSpPr>
        <p:spPr>
          <a:xfrm>
            <a:off x="1666875" y="197405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https://www.givainc.com/images/customer_pain_points.png</a:t>
            </a:r>
            <a:endParaRPr/>
          </a:p>
        </p:txBody>
      </p:sp>
      <p:sp>
        <p:nvSpPr>
          <p:cNvPr id="290" name="Google Shape;290;p25"/>
          <p:cNvSpPr txBox="1"/>
          <p:nvPr/>
        </p:nvSpPr>
        <p:spPr>
          <a:xfrm>
            <a:off x="1666875" y="220741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www.givainc.com</a:t>
            </a:r>
            <a:endParaRPr/>
          </a:p>
        </p:txBody>
      </p:sp>
      <p:pic>
        <p:nvPicPr>
          <p:cNvPr descr="image.png" id="291" name="Google Shape;29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384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5"/>
          <p:cNvSpPr txBox="1"/>
          <p:nvPr/>
        </p:nvSpPr>
        <p:spPr>
          <a:xfrm>
            <a:off x="1666875" y="27455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https://i.sstatic.net/ujssL.jpg</a:t>
            </a:r>
            <a:endParaRPr/>
          </a:p>
        </p:txBody>
      </p:sp>
      <p:sp>
        <p:nvSpPr>
          <p:cNvPr id="293" name="Google Shape;293;p25"/>
          <p:cNvSpPr txBox="1"/>
          <p:nvPr/>
        </p:nvSpPr>
        <p:spPr>
          <a:xfrm>
            <a:off x="1666875" y="29789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stackoverflow.com</a:t>
            </a:r>
            <a:endParaRPr/>
          </a:p>
        </p:txBody>
      </p:sp>
      <p:pic>
        <p:nvPicPr>
          <p:cNvPr descr="image.png" id="294" name="Google Shape;29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099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5"/>
          <p:cNvSpPr txBox="1"/>
          <p:nvPr/>
        </p:nvSpPr>
        <p:spPr>
          <a:xfrm>
            <a:off x="1666875" y="351710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https://kanbanboard.co.uk/public/storage/uploads/page/1724051548_1724051218_kanbanboards.png</a:t>
            </a:r>
            <a:endParaRPr/>
          </a:p>
        </p:txBody>
      </p:sp>
      <p:sp>
        <p:nvSpPr>
          <p:cNvPr id="296" name="Google Shape;296;p25"/>
          <p:cNvSpPr txBox="1"/>
          <p:nvPr/>
        </p:nvSpPr>
        <p:spPr>
          <a:xfrm>
            <a:off x="1666875" y="375046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kanbanboard.co.uk</a:t>
            </a:r>
            <a:endParaRPr/>
          </a:p>
        </p:txBody>
      </p:sp>
      <p:pic>
        <p:nvPicPr>
          <p:cNvPr descr="image.png" id="297" name="Google Shape;297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814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5"/>
          <p:cNvSpPr txBox="1"/>
          <p:nvPr/>
        </p:nvSpPr>
        <p:spPr>
          <a:xfrm>
            <a:off x="1666875" y="428863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https://static.vecteezy.com/system/resources/previews/033/062/535/non_2x/relational-database-line-icon-illustration-vector.jpg</a:t>
            </a:r>
            <a:endParaRPr/>
          </a:p>
        </p:txBody>
      </p:sp>
      <p:sp>
        <p:nvSpPr>
          <p:cNvPr id="299" name="Google Shape;299;p25"/>
          <p:cNvSpPr txBox="1"/>
          <p:nvPr/>
        </p:nvSpPr>
        <p:spPr>
          <a:xfrm>
            <a:off x="1666875" y="452199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www.vecteezy.com</a:t>
            </a:r>
            <a:endParaRPr/>
          </a:p>
        </p:txBody>
      </p:sp>
      <p:pic>
        <p:nvPicPr>
          <p:cNvPr descr="image.png" id="300" name="Google Shape;300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1387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5"/>
          <p:cNvSpPr txBox="1"/>
          <p:nvPr/>
        </p:nvSpPr>
        <p:spPr>
          <a:xfrm>
            <a:off x="1666875" y="5053012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https://cdn.dribbble.com/userupload/43725971/file/original-ac58e42ab6a224efec7ad7f5173df798.png?crop=1170x870-5320x3983&amp;format=webp&amp;resize=400x300&amp;vertical=center</a:t>
            </a:r>
            <a:endParaRPr/>
          </a:p>
        </p:txBody>
      </p:sp>
      <p:sp>
        <p:nvSpPr>
          <p:cNvPr id="302" name="Google Shape;302;p25"/>
          <p:cNvSpPr txBox="1"/>
          <p:nvPr/>
        </p:nvSpPr>
        <p:spPr>
          <a:xfrm>
            <a:off x="1666875" y="5472112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dribbble.com</a:t>
            </a:r>
            <a:endParaRPr/>
          </a:p>
        </p:txBody>
      </p:sp>
      <p:sp>
        <p:nvSpPr>
          <p:cNvPr id="303" name="Google Shape;303;p25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304" name="Google Shape;304;p25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